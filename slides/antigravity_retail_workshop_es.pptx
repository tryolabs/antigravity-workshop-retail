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2.xml" ContentType="application/vnd.openxmlformats-officedocument.them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E4D46A8-66A3-41A5-B16E-27017FE35D0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5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 la bienvenida en nombre de Tryolabs. Destaca el formato 10% teoría / 90% práctica y la combinación de datos técnicos con datos comerciales (contratos, ventas, ingresos/márgenes).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CFCA116-25EB-4783-909E-F79AC73C3C9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5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Explica la agenda de 4 horas y cómo los participantes usarán Antigravity con los prompts optimizados de PROMPTS.es.md y las guías en PDF.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D1B6373-D881-46D3-BFA3-C636A70386E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6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Explica en detalle cómo funciona Antigravity por dentro: ensamblaje jerárquico de contexto, razonamiento intercalado, compuerta determinista de hooks/sandbox y bucle de autoverificación.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1292FFC-3DF5-43BE-AB90-0ECCBC28400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6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Muestra las tres superficies (Antigravity 2.0, IDE y CLI) y cómo combinar @ menciones, /plan y Cmd+I.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026028F-B50C-47D3-85C9-17A41A5F52E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6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Revisa los Objetivos del Lab 1 de Retail y los dos servicios que los asistentes repararán.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FB675F1-6193-464D-98AF-45F53D5DCFD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7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Mantén esta diapositiva proyectada durante el Lab 1 de Retail.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593400F-0887-4BDD-BAFC-AD5C6FADC48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Explica el mecanismo interno de divulgación progresiva (progressive disclosure) y por qué permite tener decenas de skills sin consumir tokens innecesarios.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85F9ECF-F1F9-4F12-B70B-462DFFA2892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7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Revisa los Objetivos del Lab 2 de Retail y los archivos de personalización que construirán.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3C8C2BD-B12D-4329-BAE6-BEDA0C98D2B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8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Mantén esta diapositiva visible durante el Lab 2 de Retail.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64F9ACB-2276-4CC3-B10C-8DB917B7C72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8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Módulo clave de seguridad y gobernanza: muestra en la consola de Google Cloud cómo se auditan las licencias Gemini Enterprise y cómo los Hooks locales bloquean acciones riesgosas.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25AB4B6-AC59-45C7-9BB4-D612DA26F6A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Revisa los Objetivos del Lab 3 de Retail y los componentes FastMCP + Hook que construirán.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7667086-6FF3-4141-BF33-4EE81CFE42A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Mantén esta diapositiva proyectada durante el Lab 3 de Retail.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A3EEC00-FCD3-473F-9658-CDF18B9FF6C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Explica cómo Antigravity ayuda a diseñar y programar el sistema multi-agente basado en Google ADK + protocolo A2A, cómo probarlo localmente con adk web y cómo desplegarlo con Terraform a Google Cloud y Gemini Enterprise.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8D44293-8EE6-4E55-ADB4-512320687D1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9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Presenta los Objetivos del Lab 4 Capstone de Retail y los 3 componentes que construirán.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9F288DA-4BB7-4970-A500-66CECE2CCBD3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9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Mantén esta diapositiva proyectada durante el Lab 4 Capstone de Retail.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B422F64-BA17-4A43-8196-4AB31EA42E3F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851700A-A0C3-4435-9BDA-124AE1D76FE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E2F85AA-89F1-4093-9FD1-0121E58A9EF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A4569FB-C935-49B9-84C0-C8DCC2B6493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942947D-0979-4D76-898A-0EA6E232932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A1A4E55-BBB9-43A4-8F3A-91EF5629983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BF664CF-35B7-451C-A37E-B7B1BD8F9C2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057B6CF-7F7A-45F2-8ABC-79EC45C5B89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F4C1487-B95A-4720-B7AB-B1AF5744C76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7C27D1A-BC86-4DD6-BB03-B2115F2928F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D2FFC08-A9E7-4B54-9365-BD7CC5AFDBD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3C4C40C-50C3-433E-B09A-6C030D6E24C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9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TALLER EJECUTIVO TRYOLABS • 4 HORAS (10% TEORÍA / 90% LABORATORIOS PRÁCTICOS)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Ingeniería Agéntica con Google Antigravity — Edición Retail: Construyendo 'Retail Pulse'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Enrutamiento Omnicanal, Sincronización True ATP e Inteligencia de Márgenes y Contratos OTIF (Impartido por Tryolabs)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" name="Picture 7" descr="retail_domain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Misión del Taller y Arquitectura de Datos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Datos Técnicos WMS/POS: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150 nodos de inventario (2 DCs + 4 Tiendas), 25 SKUs con GS1 GTIN-14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Streams de Webhooks y Escaneos: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120 eventos POS/WMS/EDI 856 en JSONL con bloqueos BOPIS y merma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Datos Comerciales: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200 órdenes omnicanal (LTV Clientes VIP DIAMOND/GOLD, precio vs costo)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Contratos de Proveedores OTIF: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10 acuerdos comerciales ($500K–$5.5M, metas OTIF y penalizaciones)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Impacto Medible: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Detener $35,113.25 de fuga de margen, rescatar 35 órdenes VIP y cobrar $98,250 OTIF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Impartido por Tryolabs • Ejecución 100% Local en Laptop + Despliegue Terraform a Cloud Run y Gemini Enterprise    |    Slide 1/15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1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AGENDA Y PROGRESIÓN • 24M TEORÍA / 216M PRÁCTICA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Ruta Práctica de 4 Horas: Del Triage a Sistemas Multi-Agente ADK y A2A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Cuatro cápsulas teóricas de 6 minutos seguidas de cuatro laboratorios progresivos de 52–55 minutos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5" name="Picture 7" descr="roadmap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Cronograma Minuto a Minuto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Hora 1 (00:00–00:58):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[6m Teoría] Arquitectura Interna y Superficies → [52m Lab 1] Triage y Recuperación Financiera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Hora 2 (00:58–01:58):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[6m Teoría] Rules y Skills Progresivos → [54m Lab 2] Estándares de Dominio y Skill Ejecutivo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Hora 3 (01:58–02:59):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[6m Teoría] MCP, Hooks y Gobernanza Cloud → [55m Lab 3] Servidor FastMCP Local y Hooks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Hora 4 (02:59–04:00):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[6m Teoría] Subagentes, ADK, A2A y Terraform → [55m Lab 4] Capstone Multi-Agente, ADK Dev UI y Cloud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Checkpoints Auto-Recuperables: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¡Ejecutar ./labs/lab-0X/install.sh aplica las soluciones previas automáticamente!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Cada laboratorio incluye LAB_0X_INSTRUCTIONS_ES.pdf, README.es.md, PROMPTS.es.md, install.sh y verify.sh.    |    Slide 2/15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93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MÓDULO TEÓRICO 1A (3 MINUTOS) • FUNCIONAMIENTO INTERNO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Cómo Funciona Google Antigravity Internamente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Dentro del planificador cognitivo, ensamblador de contexto, compuerta de seguridad y runtime en sandbox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7" name="Picture 7" descr="arch_internal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El Ciclo Interno de Ejecución en 5 Etapas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1. Cargador Progresivo de Contexto: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Recorre el árbol de directorios buscando GEMINI.md y .agents/rules, indexa metadatos YAML de SKILL.md, resuelve menciones @ y gestiona transcript.jsonl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2. Planificador Gemini Enterprise: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Genera razonamiento intercalado (thinking), sintetiza planes (/plan) y despacha herramientas o subagentes en paralelo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3. Compuerta Determinista de Seguridad: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Evalúa hooks PreToolUse (código 2 bloquea la acción), políticas de ejecución, ACLs y sandbox de terminal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4. Runtime de Herramientas y Puente MCP: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Aplica diffs exactos, ejecuta pytest en sandbox e invoca herramientas FastMCP por stdio/SSE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5. Verificación en Bucle Cerrado: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hooks PostToolUse, analiza resultados de tests y se autocorrige hasta pasar todas las pruebas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Concepto Clave: Antigravity no es solo un chat, sino un motor de ingeniería en bucle cerrado verificable.    |    Slide 3/15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05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MÓDULO TEÓRICO 1B (3 MINUTOS) • SUPERFICIES Y MODALIDADES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Antigravity 2.0, IDE y CLI (</a:t>
            </a:r>
            <a:r>
              <a:rPr lang="en-US" sz="22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agy</a:t>
            </a: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— Modalidades Clave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Seleccionando la modalidad y comando slash ideal para cada tarea de ingeniería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9" name="Picture 7" descr="surfaces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Funcionalidades que Explorarás Hoy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Modalidad Pasiva (IDE Tab):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Supercomplete sensible al contexto, Tab-to-Jump entre archivos y Tab-to-Auto-Import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Modalidad Instructiva (Cmd/Ctrl+I y Code Lenses):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Selecciona un bloque para refactorización quirúrgica o haz clic en 'Write Tests'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Modalidad Colaborativa (Chat Canvas y CLI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agy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Razonamiento multi-archivo con @archivo, @carpeta, @terminal y capturas de pantalla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Comandos Slash de Alto Impacto: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/plan (arquitectura paso a paso), /grill-me (entrevista de diseño), /boost, /teamwork, /learn y /compact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Panel Auxiliar HTML: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Inspección en vivo de Subagentes, Tareas en Segundo Plano, Artefactos y Diffs de Archivos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Tip Pro: Inicia tareas complejas con /plan y menciones @archivo; usa Cmd+I para ajustes puntuales de fórmulas.    |    Slide 4/15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7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LABORATORIO PRÁCTICO 1 (PARTE 1/2) • OBJETIVOS Y QUÉ CONSTRUIRÁS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Lab 1: Piso de Margen y True ATP — Objetivos y Arquitectura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52 Minutos • Guía PDF Imprimible: labs/lab-01-margin-inventory-triage/LAB_01_INSTRUCTIONS_ES.pdf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1" name="Picture 7" descr="retail_domain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D29922"/>
          </a:solidFill>
          <a:ln>
            <a:solidFill>
              <a:srgbClr val="D299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Objetivos del Lab 1 y Qué Construirás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Objetivo 1 (Triage Agéntico Multi-Archivo):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Dominar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@menciones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/plan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edición en línea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Cmd/Ctrl+I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correlacionando eventos POS/WMS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pos_wms_webhooks.jsonl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con código de precios e inventario.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Objetivo 2 (Recuperación de Margen y Órdenes VIP):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Detener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$35,113.25 USD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en fuga de margen negativo en 30 órdenes y detectar 35 órdenes VIP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DIAMOND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/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GOLD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&gt;$250K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LTV) con stock fantasma.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Qué Construirás #1 (Motor de Precios GS1 y Piso de Margen):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Refactorizarás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src/services/promo_pricing.py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validando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gtin_14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Módulo-10 GS1,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Decimal(ROUND_HALF_UP)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descuentos acumulables multiplicativos y piso mínimo de margen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15%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Qué Construirás #2 (Motor de Inventario True ATP):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Refactorizarás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src/services/inventory_atp.py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calculando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raw_atp = on_hand - reserved - safety_stock - unprocessed_webhook_delta_qty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Entregable y Verificación: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Pasar los 5 tests en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tests/test_lab01_triage.py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./labs/lab-01-margin-inventory-triage/verify.sh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y validar en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http://localhost:8002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Impartido por Tryolabs • Guía imprimible completa: LAB_01_INSTRUCTIONS_ES.pdf    |    Slide 5/15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29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0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LABORATORIO PRÁCTICO 1 (PARTE 2/2) • INSTRUCCIONES PASO A PASO Y PROMPTS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Instrucciones del Lab 1 y Prompts para Copiar y Pegar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Sigue los Pasos 1–5 a la izquierda y copia los prompts desde labs/lab-01-margin-inventory-triage/PROMPTS.es.md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Rectangle 7"/>
          <p:cNvSpPr/>
          <p:nvPr/>
        </p:nvSpPr>
        <p:spPr>
          <a:xfrm>
            <a:off x="502920" y="1755720"/>
            <a:ext cx="550440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" name="Rectangle 8"/>
          <p:cNvSpPr/>
          <p:nvPr/>
        </p:nvSpPr>
        <p:spPr>
          <a:xfrm>
            <a:off x="502920" y="1755720"/>
            <a:ext cx="5504400" cy="63720"/>
          </a:xfrm>
          <a:prstGeom prst="rect">
            <a:avLst/>
          </a:prstGeom>
          <a:solidFill>
            <a:srgbClr val="D29922"/>
          </a:solidFill>
          <a:ln>
            <a:solidFill>
              <a:srgbClr val="D299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" name="TextBox 9"/>
          <p:cNvSpPr/>
          <p:nvPr/>
        </p:nvSpPr>
        <p:spPr>
          <a:xfrm>
            <a:off x="704160" y="1901880"/>
            <a:ext cx="51019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Instrucciones Paso a Paso del Lab 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1 (Inicializar Lab 01):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./labs/lab-01-margin-inventory-triage/install.sh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para inicializar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data/retail_pulse.db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2 (Reproducir Fallos):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./.venv/bin/pytest tests/test_lab01_triage.py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para observar los fallos de margen y ATP.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3 (Corregir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src/services/promo_pricing.py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Valida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gtin_14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Módulo-10 GS1, usa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Decimal(ROUND_HALF_UP)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no combines cupones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EXCLUSIVE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aplica los acumulables multiplicativamente y protege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contract_min_margin_floor_pct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4 (Corregir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src/services/inventory_atp.py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Calcula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raw_atp = on_hand - reserved - safety_stock - unprocessed_webhook_delta_qty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true_atp = max(0, raw_atp)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5 (Verificar):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./labs/lab-01-margin-inventory-triage/verify.sh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5 passed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: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$35,113.25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recuperados; 35 órdenes VIP detectadas).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Rectangle 10"/>
          <p:cNvSpPr/>
          <p:nvPr/>
        </p:nvSpPr>
        <p:spPr>
          <a:xfrm>
            <a:off x="6199560" y="1755720"/>
            <a:ext cx="54860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" name="Rectangle 11"/>
          <p:cNvSpPr/>
          <p:nvPr/>
        </p:nvSpPr>
        <p:spPr>
          <a:xfrm>
            <a:off x="6199560" y="1755720"/>
            <a:ext cx="5486040" cy="63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TextBox 12"/>
          <p:cNvSpPr/>
          <p:nvPr/>
        </p:nvSpPr>
        <p:spPr>
          <a:xfrm>
            <a:off x="6400800" y="1901880"/>
            <a:ext cx="508356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Prompts Optimizados (PROMPTS.es.md) y Verificación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1 — Diagnóstico (@Menciones):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'@src/services/promo_pricing.py @src/services/inventory_atp.py @data/logs/pos_wms_webhooks.jsonl @tests/test_lab01_triage.py Ejecuta pytest y explica por qué 30 órdenes pierden margen y 35 órdenes VIP tienen inventario fantasma.'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2 — Planificación (/plan):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'/plan Crea un plan de corrección para promo_pricing.py (GS1 GTIN-14, Decimal, promos acumulables multiplicativas, piso de margen) e inventory_atp.py (restar reserved, safety_stock y webhook delta).'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3 — Edición en Línea (Cmd+I):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Selecciona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calculate_node_atp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inventory_atp.py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-&gt; 'Resta reserved_qty, safety_stock_qty y unprocessed_webhook_delta_qty de on_hand_qty.'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4 — Verificación Autónoma: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'Aplica las correcciones en @src/services/promo_pricing.py y @src/services/inventory_atp.py y ejecuta ./labs/lab-01-margin-inventory-triage/verify.sh.'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Rectangle 13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" name="TextBox 14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Impartido por Tryolabs • Solución de Referencia: ./labs/lab-01-margin-inventory-triage/apply_solution.sh    |    Slide 6/15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43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MÓDULO TEÓRICO 2 (6 MINUTOS) • ARQUITECTURA DE PERSONALIZACIÓN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Cómo Funcionan Internamente las Rules y Skills Progresivos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Especializando a Antigravity en tu industria sin saturar la ventana de contexto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7" name="Picture 7" descr="customizations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9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0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Rules vs. Skills vs. /learn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Reglas Jerárquicas (GEMINI.md y .agents/rules/*.md):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Invariantes de dominio cargados desde la raíz del workspace hasta los subdirectorios (deduplicados automáticamente)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Skills con Divulgación Progresiva (.agents/skills/&lt;name&gt;/SKILL.md):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Solo el frontmatter YAML (name, description) entra al prompt inicial; el cuerpo completo y scripts/ se cargan SOLO al activarse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Memoria Auto-Mejorable (/learn):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Pide a Antigravity codificar un patrón aprendido durante el debugging en una regla o skill permanente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Jerarquía de Prioridad: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Workspace (.agents/) &gt; JSON Declarado (skills.json) &gt; Global (~/.gemini/config/) &gt; Integrado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Regla Práctica: Coloca invariantes permanentes en GEMINI.md/rules y flujos multifase con scripts en SKILL.md.    |    Slide 7/15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55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LABORATORIO PRÁCTICO 2 (PARTE 1/2) • OBJETIVOS Y QUÉ CONSTRUIRÁS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Lab 2: Rules de Workspace y Skills Progresivos — Objetivos y Diseño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54 Minutos • Guía PDF Imprimible: labs/lab-02-rules-and-skills/LAB_02_INSTRUCTIONS_ES.pdf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9" name="Picture 7" descr="customizations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Objetivos del Lab 2 y Qué Construirás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Objetivo 1 (Reglas Jerárquicas de Dominio):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Codificar invariantes permanentes GS1 GTIN-14, True ATP, promociones multiplicativas y cargos OTIF en el workspace.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Objetivo 2 (Skills con Divulgación Progresiva):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Construir un skill ejecutivo de auditoría comercial y logística en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.agents/skills/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usando frontmatter YAML ligero.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Qué Construirás #1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GEMINI.md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.agents/rules/retail-standards.md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Memoria y reglas del workspace exigiendo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Decimal(ROUND_HALF_UP)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dígito verificador GS1 Módulo-10, piso de margen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15%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fórmulas OTIF.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Qué Construirás #2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.agents/skills/margin-otif-audit/SKILL.md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Skill progresivo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name: margin-otif-audit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que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scripts/run_otif_margin_audit.py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Entregable y Verificación: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Generar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data/exports/executive_margin_otif_audit.json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.md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$98,250.00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en cargos OTIF) y pasar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./labs/lab-02-rules-and-skills/verify.sh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Impartido por Tryolabs • Guía imprimible completa: LAB_02_INSTRUCTIONS_ES.pdf    |    Slide 8/15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67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8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LABORATORIO PRÁCTICO 2 (PARTE 2/2) • INSTRUCCIONES PASO A PASO Y PROMPTS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Instrucciones del Lab 2 y Prompts para Copiar y Pegar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Sigue los Pasos 1–5 a la izquierda y copia los prompts desde labs/lab-02-rules-and-skills/PROMPTS.es.md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Rectangle 7"/>
          <p:cNvSpPr/>
          <p:nvPr/>
        </p:nvSpPr>
        <p:spPr>
          <a:xfrm>
            <a:off x="502920" y="1755720"/>
            <a:ext cx="550440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Rectangle 8"/>
          <p:cNvSpPr/>
          <p:nvPr/>
        </p:nvSpPr>
        <p:spPr>
          <a:xfrm>
            <a:off x="502920" y="1755720"/>
            <a:ext cx="5504400" cy="63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3" name="TextBox 9"/>
          <p:cNvSpPr/>
          <p:nvPr/>
        </p:nvSpPr>
        <p:spPr>
          <a:xfrm>
            <a:off x="704160" y="1901880"/>
            <a:ext cx="51019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Instrucciones Paso a Paso del Lab 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1 (Inicializar Lab 02):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./labs/lab-02-rules-and-skills/install.sh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(aplica Lab 01 automáticamente).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2 (Crear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GEMINI.md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en la raíz):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Documenta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sku_catalog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wms_inventory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vendor_contracts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promo_campaigns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omnichannel_orders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las reglas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Decimal(ROUND_HALF_UP)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gtin_14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3 (Crear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.agents/rules/retail-standards.md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Codifica validación GS1 GTIN-14 Módulo-10, fórmula True ATP, descuentos multiplicativos, piso de margen y penalidades OTIF.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4 (Crear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.agents/skills/margin-otif-audit/SKILL.md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Incluye frontmatter YAML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name: margin-otif-audit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description: ...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e instrucciones para correr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./.venv/bin/python scripts/run_otif_margin_audit.py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5 (Verificar):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./labs/lab-02-rules-and-skills/verify.sh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5 passed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+ reportes ejecutivos JSON/MD).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Rectangle 10"/>
          <p:cNvSpPr/>
          <p:nvPr/>
        </p:nvSpPr>
        <p:spPr>
          <a:xfrm>
            <a:off x="6199560" y="1755720"/>
            <a:ext cx="54860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" name="Rectangle 11"/>
          <p:cNvSpPr/>
          <p:nvPr/>
        </p:nvSpPr>
        <p:spPr>
          <a:xfrm>
            <a:off x="6199560" y="1755720"/>
            <a:ext cx="5486040" cy="63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" name="TextBox 12"/>
          <p:cNvSpPr/>
          <p:nvPr/>
        </p:nvSpPr>
        <p:spPr>
          <a:xfrm>
            <a:off x="6400800" y="1901880"/>
            <a:ext cx="508356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Prompts Optimizados (PROMPTS.es.md) y Verificación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1 — Crear Rules de Dominio: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'/plan Crea @GEMINI.md y @.agents/rules/retail-standards.md exigiendo Decimal ROUND_HALF_UP, validación GS1 GTIN-14 Módulo-10, deducción de webhook delta en True ATP, promos multiplicativas y reglas OTIF.'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2 — Crear Skill Progresivo: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'Crea @.agents/skills/margin-otif-audit/SKILL.md con frontmatter YAML (name: margin-otif-audit) que ejecute ./scripts/run_otif_margin_audit.py y genere data/exports/executive_margin_otif_audit.json y .md.'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3 — Invocar el Skill: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'Ejecuta una auditoría ejecutiva de márgenes, True ATP y penalidades OTIF de proveedores usando nuestro skill del workspace.'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Comando de Verificación: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./labs/lab-02-rules-and-skills/verify.sh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prueba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/learn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Rectangle 13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Box 14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Impartido por Tryolabs • Solución de Referencia: ./labs/lab-02-rules-and-skills/apply_solution.sh    |    Slide 9/15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81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MÓDULO TEÓRICO 3 (6 MINUTOS) • MCP, HOOKS Y GOBERNANZA EMPRESARIAL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Puente MCP en Vivo, Hooks Deterministas y Gobernanza Gemini Enterprise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Conectando bases de datos en tiempo real con seguridad empresarial demostrable en Google Cloud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5" name="Picture 7" descr="governance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6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D29922"/>
          </a:solidFill>
          <a:ln>
            <a:solidFill>
              <a:srgbClr val="D299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Seguridad y Gobernanza en 2 Capas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Capa 1 — Google Cloud y Gemini Enterprise (Demo en Vivo del Instructor):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Cloud IAM (roles/cloudaicompanion.user), Cloud Audit Logs (cloudaicompanion.googleapis.com), perímetros VPC-SC, Cero Retención y Cero Entrenamiento con código del cliente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Capa 2 — Seguridad Local en Antigravity: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Política de Ejecución (strict / request-review / proceed-in-sandbox), Sandbox de Terminal SO, bloqueo de archivos fuera del workspace y listas permitidas/bloqueadas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Contexto en Vivo vía FastMCP (.agents/mcp_config.json):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Expone herramientas Python tipadas sobre SQLite y telemetría vía stdio/SSE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Hooks Deterministas (.agents/hooks.json):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El script PreToolUse inspecciona el JSON en stdin; devolver código 2 bloquea violaciones e imprime un registro de auditoría inmutable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0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Demo del Instructor: Mostrar Cloud Audit Logs en GCP Console + disparar un bloqueo PreToolUse con código 2 localmente.    |    Slide 10/15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93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4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LABORATORIO PRÁCTICO 3 (PARTE 1/2) • OBJETIVOS Y QUÉ CONSTRUIRÁS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Lab 3: Servidor FastMCP Retail y Hooks de Margen — Objetivos y Diseño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55 Minutos • Guía PDF Imprimible: labs/lab-03-mcp-and-hooks/LAB_03_INSTRUCTIONS_ES.pdf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7" name="Picture 7" descr="governance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Objetivos del Lab 3 y Qué Construirás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Objetivo 1 (Conexión Omnicanal en Vivo vía MCP):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Conectar Antigravity a tablas SQLite de inventario WMS, órdenes VIP y contratos OTIF mediante un servidor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FastMCP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Objetivo 2 (Guardarraíles Deterministas de Margen):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Interceptar ediciones de código y comandos shell con un hook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PreToolUse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que bloquee con código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2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cualquier intento de desactivar el piso de margen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15%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Qué Construirás #1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mcp_server/retail_mcp.py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.agents/mcp_config.json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4 herramientas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@mcp.tool()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query_true_atp_inventory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audit_vendor_otif_contracts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simulate_promo_margin_guard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list_at_risk_vip_orders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Qué Construirás #2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.agents/hooks.json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scripts/margin_guard_hook.py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Hook determinista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PreToolUse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que bloquea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enforce_floor=False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margen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&lt; 0.15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o SQL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DROP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/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DELETE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auditando en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data/logs/hook_compliance_audit.jsonl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Entregable y Verificación: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Pasar los 5 tests de MCP y Hooks en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./labs/lab-03-mcp-and-hooks/verify.sh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Impartido por Tryolabs • Guía imprimible completa: LAB_03_INSTRUCTIONS_ES.pdf    |    Slide 11/15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05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6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LABORATORIO PRÁCTICO 3 (PARTE 2/2) • INSTRUCCIONES PASO A PASO Y PROMPTS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Instrucciones del Lab 3 y Prompts para Copiar y Pegar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Sigue los Pasos 1–5 a la izquierda y copia los prompts desde labs/lab-03-mcp-and-hooks/PROMPTS.es.md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Rectangle 7"/>
          <p:cNvSpPr/>
          <p:nvPr/>
        </p:nvSpPr>
        <p:spPr>
          <a:xfrm>
            <a:off x="502920" y="1755720"/>
            <a:ext cx="550440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Rectangle 8"/>
          <p:cNvSpPr/>
          <p:nvPr/>
        </p:nvSpPr>
        <p:spPr>
          <a:xfrm>
            <a:off x="502920" y="1755720"/>
            <a:ext cx="5504400" cy="63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Box 9"/>
          <p:cNvSpPr/>
          <p:nvPr/>
        </p:nvSpPr>
        <p:spPr>
          <a:xfrm>
            <a:off x="704160" y="1901880"/>
            <a:ext cx="51019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Instrucciones Paso a Paso del Lab 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1 (Inicializar Lab 03):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./labs/lab-03-mcp-and-hooks/install.sh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(aplica Labs 01–02 automáticamente).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2 (Completar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mcp_server/retail_mcp.py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Implementa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simulate_promo_margin_guard(promo_code, category, loyalty_tier)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list_at_risk_vip_orders(loyalty_tier, limit)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3 (Registrar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.agents/mcp_config.json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Registra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retail-pulse-mcp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ejecutando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.venv/bin/python -m mcp_server.retail_mcp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4 (Configurar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.agents/hooks.json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Conecta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PreToolUse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scripts/margin_guard_hook.py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(bloquea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enforce_floor=False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o margen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&lt; 0.15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con código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2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5 (Verificar):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./labs/lab-03-mcp-and-hooks/verify.sh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5 passed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+ bitácora de auditoría).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Rectangle 10"/>
          <p:cNvSpPr/>
          <p:nvPr/>
        </p:nvSpPr>
        <p:spPr>
          <a:xfrm>
            <a:off x="6199560" y="1755720"/>
            <a:ext cx="54860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Rectangle 11"/>
          <p:cNvSpPr/>
          <p:nvPr/>
        </p:nvSpPr>
        <p:spPr>
          <a:xfrm>
            <a:off x="6199560" y="1755720"/>
            <a:ext cx="5486040" cy="63720"/>
          </a:xfrm>
          <a:prstGeom prst="rect">
            <a:avLst/>
          </a:prstGeom>
          <a:solidFill>
            <a:srgbClr val="D29922"/>
          </a:solidFill>
          <a:ln>
            <a:solidFill>
              <a:srgbClr val="D299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TextBox 12"/>
          <p:cNvSpPr/>
          <p:nvPr/>
        </p:nvSpPr>
        <p:spPr>
          <a:xfrm>
            <a:off x="6400800" y="1901880"/>
            <a:ext cx="508356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Prompts Optimizados (PROMPTS.es.md) y Verificación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1 — Completar Servidor FastMCP: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'/plan Implementa simulate_promo_margin_guard y list_at_risk_vip_orders en @mcp_server/retail_mcp.py cumpliendo con @tests/test_lab03_mcp_hooks.py.'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2 — Configurar MCP y Hooks: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'Crea @.agents/mcp_config.json para retail-pulse-mcp y @.agents/hooks.json conectando PreToolUse a ./scripts/margin_guard_hook.py.'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3 — Probar Bloqueo del Hook (Código 2):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echo '{"tool_name":"edit_file","tool_input":{"Path":"src/services/promo_pricing.py","Replacement":"enforce_floor=False"}}' | .venv/bin/python scripts/margin_guard_hook.py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Comando de Verificación: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./labs/lab-03-mcp-and-hooks/verify.sh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revisa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data/logs/hook_compliance_audit.jsonl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Rectangle 13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TextBox 14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Impartido por Tryolabs • Solución de Referencia: ./labs/lab-03-mcp-and-hooks/apply_solution.sh    |    Slide 12/15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8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19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MÓDULO TEÓRICO 4 (6 MINUTOS) • SUBAGENTES, GOOGLE ADK, A2A Y TERRAFORM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Sistemas Multi-Agente con Google ADK, Protocolo A2A y Terraform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Diseñando arquitecturas multi-agente localmente con </a:t>
            </a:r>
            <a:r>
              <a:rPr lang="en-US" sz="13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adk web</a:t>
            </a: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 y desplegando a Cloud Run y Gemini Enterprise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3" name="Picture 7" descr="adk_a2a_cloud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4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Arquitectura Multi-Agente de Punta a Punta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Subagentes de Antigravity (/teamwork, /boost, /grill-me):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Delega tareas paralelas de investigación y programación dentro de Antigravity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Google ADK (Agent Development Kit):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Construye jerarquías multi-agente de dominio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root_agent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coordinando agentes especialistas Técnico y Comercial con herramientas tipadas)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Pruebas Locales con ADK Dev UI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adk web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./scripts/run_adk_web.sh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(http://localhost:8080) para inspeccionar trazas de eventos multi-agente, llamadas a herramientas y estado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Protocolo A2A (Agent2Agent):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Publica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GET /.well-known/agent.json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(Agent Card) y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POST /api/v1/a2a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(JSON-RPC 2.0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tasks/send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para interoperabilidad entre agentes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Terraform + Gemini Enterprise: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Aprovisiona Cloud Run v2 e IAM vía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infra/terraform/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deploy_gcp.sh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y registra tu agente A2A en Gemini Enterprise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register_gemini_enterprise_agent.sh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¡Desarrolla y prueba 100% localmente con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adk web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 +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pytest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, y despliega a Google Cloud y Gemini Enterprise con Terraform!    |    Slide 13/15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0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31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LABORATORIO PRÁCTICO 4 CAPSTONE (PARTE 1/2) • OBJETIVOS Y QUÉ CONSTRUIRÁS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Lab 4 Capstone: Sistemas Multi-Agente ADK, A2A y Terraform — Objetivos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55 Minutos • Guía PDF Imprimible: labs/lab-04-multi-agent-capstone/LAB_04_INSTRUCTIONS_ES.pdf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5" name="Picture 7" descr="adk_a2a_cloud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7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8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Objetivos del Lab 4 y Qué Construirás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Objetivo 1 (Diseño Multi-Agente con Google ADK y A2A):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Construir un sistema jerárquico multi-agente con Google ADK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LlmAgent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y exponer su Agent Card + endpoint JSON-RPC 2.0 A2A.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Objetivo 2 (Prueba Local en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adk web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Despliegue Cloud con Terraform):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Probar delegaciones entre agentes en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adk web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http://localhost:8080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y validar el despliegue a Cloud Run + Gemini Enterprise con Terraform.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Qué Construirás #1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src/services/fulfillment_router.py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Optimizador omnicanal de re-enrutamiento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evaluate_candidates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optimize_at_risk_orders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rescatando las 35 órdenes VIP según margen neto post-envío.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Qué Construirás #2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src/agents/adk_a2a_orchestrator.py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adk_agents/retail_pulse/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WMSInventoryATPAgent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+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MerchandisingMarginOTIFAgent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coordinados por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RetailPulseOrchestratorAgent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más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GET /.well-known/agent.json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POST /api/v1/a2a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Qué Construirás #3 (Infraestructura Cloud):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Validar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infra/terraform/main.tf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el registro en Gemini Enterprise con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./labs/lab-04-multi-agent-capstone/deploy_gcp.sh --dry-run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0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Impartido por Tryolabs • Guía imprimible completa: LAB_04_INSTRUCTIONS_ES.pdf    |    Slide 14/15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43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4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LABORATORIO PRÁCTICO 4 CAPSTONE (PARTE 2/2) • INSTRUCCIONES PASO A PASO Y PROMPTS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Instrucciones del Lab 4, Prueba en </a:t>
            </a:r>
            <a:r>
              <a:rPr lang="en-US" sz="22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adk web</a:t>
            </a: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Despliegue Terraform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Sigue los Pasos 1–5 a la izquierda y copia los prompts desde labs/lab-04-multi-agent-capstone/PROMPTS.es.md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Rectangle 7"/>
          <p:cNvSpPr/>
          <p:nvPr/>
        </p:nvSpPr>
        <p:spPr>
          <a:xfrm>
            <a:off x="502920" y="1755720"/>
            <a:ext cx="550440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Rectangle 8"/>
          <p:cNvSpPr/>
          <p:nvPr/>
        </p:nvSpPr>
        <p:spPr>
          <a:xfrm>
            <a:off x="502920" y="1755720"/>
            <a:ext cx="5504400" cy="63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9" name="TextBox 9"/>
          <p:cNvSpPr/>
          <p:nvPr/>
        </p:nvSpPr>
        <p:spPr>
          <a:xfrm>
            <a:off x="704160" y="1901880"/>
            <a:ext cx="51019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Instrucciones Paso a Paso del Lab 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1 (Inicializar Lab 04):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./labs/lab-04-multi-agent-capstone/install.sh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2 (Enrutador Omnicanal):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Implementa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evaluate_candidates()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optimize_at_risk_orders()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en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src/services/fulfillment_router.py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(re-enrutando las 35 órdenes VIP según mayor margen neto post-envío).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3 (Orquestador Google ADK y A2A):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Completa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src/agents/adk_a2a_orchestrator.py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WMSInventoryATPAgent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MerchandisingMarginOTIFAgent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RetailPulseOrchestratorAgent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GET /.well-known/agent.json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POST /api/v1/a2a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4 (Interfaz Local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adk web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./scripts/run_adk_web.sh --port 8080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prueba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retail_pulse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en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http://localhost:8080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5 (Terraform y Verificación Total):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./labs/lab-04-multi-agent-capstone/deploy_gcp.sh --dry-run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./labs/lab-04-multi-agent-capstone/verify.sh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¡20/20 tests pasando!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Rectangle 10"/>
          <p:cNvSpPr/>
          <p:nvPr/>
        </p:nvSpPr>
        <p:spPr>
          <a:xfrm>
            <a:off x="6199560" y="1755720"/>
            <a:ext cx="54860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Rectangle 11"/>
          <p:cNvSpPr/>
          <p:nvPr/>
        </p:nvSpPr>
        <p:spPr>
          <a:xfrm>
            <a:off x="6199560" y="1755720"/>
            <a:ext cx="5486040" cy="63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TextBox 12"/>
          <p:cNvSpPr/>
          <p:nvPr/>
        </p:nvSpPr>
        <p:spPr>
          <a:xfrm>
            <a:off x="6400800" y="1901880"/>
            <a:ext cx="508356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Prompts Optimizados, </a:t>
            </a:r>
            <a:r>
              <a:rPr lang="en-US" sz="1500" b="1" u="none" strike="noStrike">
                <a:solidFill>
                  <a:srgbClr val="F0F6FC"/>
                </a:solidFill>
                <a:effectLst/>
                <a:uFillTx/>
                <a:latin typeface="Courier New"/>
              </a:rPr>
              <a:t>adk web</a:t>
            </a:r>
            <a:r>
              <a:rPr lang="en-US" sz="15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 y Comandos Cloud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1 — Enrutador Omnicanal: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'/plan Implementa evaluate_candidates y optimize_at_risk_orders en @src/services/fulfillment_router.py ordenando nodos por (-post_shipping_net_margin_usd, shipping_cost_usd, prioridad DC).'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2 — Orquestador ADK + A2A: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'/teamwork Implementa WMSInventoryATPAgent, MerchandisingMarginOTIFAgent, RetailPulseOrchestratorAgent, build_a2a_agent_card y handle_a2a_jsonrpc en @src/agents/adk_a2a_orchestrator.py.'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3 — Interactivo en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adk web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(http://localhost:8080):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'Ejecuta remediación omnicanal: aplica el piso de 15% de margen, re-enruta las 35 órdenes VIP y reclama penalidades OTIF.'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Despliegue y Verificación: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./labs/lab-04-multi-agent-capstone/deploy_gcp.sh --dry-run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./labs/lab-04-multi-agent-capstone/verify.sh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Rectangle 13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4" name="TextBox 14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Impartido por Tryolabs • Solución de Referencia: ./labs/lab-04-multi-agent-capstone/apply_solution.sh    |    Slide 15/15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LibreOffice/26.2.4.2$MacOSX_AARCH64 LibreOffice_project/0229ac93fcf0d7cbc6376066c6f35021cef002dc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>Steve Canny</cp:lastModifiedBy>
  <dcterms:modified xsi:type="dcterms:W3CDTF">2013-01-27T09:15:58Z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