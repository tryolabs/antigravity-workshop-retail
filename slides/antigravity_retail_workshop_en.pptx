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5328FFE-EEEA-44AD-B2F6-CC90E5D64EE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attendees on behalf of Tryolabs. Highlight the 10% theory / 90% hands-on format and how we combine technical telemetry with commercial business data (contracts, sales, revenue/margins).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CF31B8-0DD5-41AC-94A2-84D789E039A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4-hour progression. Emphasize that attendees use Antigravity itself to solve every lab using the curated prompts in PROMPTS.md and the printable PDF guides.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10D9F06-FAF0-4FE2-BC2C-FE2759FB4D1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how Antigravity works under the hood: Context Loader -&gt; Interleaved Thinking Planner -&gt; Deterministic Policy/Hook Gate -&gt; Tool/MCP Runtime -&gt; Closed-Loop Self-Verification.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1A7C391-8CC7-46DB-AD74-4D237781444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Demonstrate the three surfaces (Antigravity 2.0, IDE, CLI) and show how @ mentions, /plan, and Cmd+I work together.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444DCA-668B-4B72-A6C6-412C5985B2A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Review the Retail Lab 1 Objectives and What Attendees Will Build before starting Lab 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C9599B-C7E3-49E3-9D7D-19195899C0F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this slide projected during Retail Lab 1 so attendees have both the 5 steps and copy-paste prompts visible.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5DB5290-DAC6-472A-8DA4-DB6D8EC4194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progressive disclosure: why 50 skills don't bloat the prompt because only YAML frontmatter is loaded until the agent activates a specific skill.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5BED00-BB02-4B50-99B3-39041D1BFA9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the Retail Lab 2 Objectives and the Rules + Skill files attendees will build.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DBC43C-CBAE-4B33-A5C2-E5205E52835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this slide displayed during Retail Lab 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CBA1EBF-D2AF-46F3-A56A-9DAC25FFFC1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 critical module for enterprise architects and CISOs. Show how Google Cloud governs Gemini Enterprise licenses &amp; audit logs in Layer 1, while Antigravity enforces sandboxing and deterministic PreToolUse hooks in Layer 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04EC13-959E-4020-9AE9-F77A125C739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Review the Retail Lab 3 Objectives and the FastMCP + Margin Hook components attendees will build.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B77B7F-F1B9-4EAA-B157-D614EE61E86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this slide displayed during Retail Lab 3.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6036FB-5F8E-4935-BE78-3BF616B5E35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the synergy between Antigravity subagents (which help you write the code) and Google ADK + A2A (the runtime multi-agent system you build, test locally in adk web, deploy with Terraform, and register in Gemini Enterprise).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E13ED7-592B-4700-BEDA-A48A8D9CC21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the Retail Lab 4 Capstone Objectives and the 3 major deliverables.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37889C-873A-4EF5-BBA7-8D8CEA15CA6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this slide projected during the Retail Lab 4 Capstone.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A24EF5-3209-44B3-B9C7-B4C6D2FA1C9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DEBC8F-BE94-4CCE-80D7-B41474F923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B47CCF-0193-4C18-A344-54B1D8E67B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263D13-04A5-4061-A89E-6895FE0BA9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18F534-C854-4C6D-8150-9BA5FB5489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5E93DA-2E1B-4758-AA4C-DC3D555F5B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686A77-28ED-4EBF-B6D3-1485D081EA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7A8E79-9B99-4A0E-8B93-911E6B9674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9234B3-856B-4563-85DD-7AE99FF20E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D855C7-3CA0-407A-9673-BB0DE56F3A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EDF19D-01A9-4ACF-AF05-ADD01E778A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F64F76-1D31-4B92-94A7-FA935A480D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TRYOLABS EXECUTIVE WORKSHOP • 4 HOURS (10% THEORY / 90% HANDS-ON LABS)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Agentic Engineering with Google Antigravity — Retail Edition: Building 'Retail Pulse'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Omnichannel Order Routing, True ATP Inventory Sync &amp; Vendor OTIF Margin Intelligence (Delivered by Tryolabs)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7" descr="retail_domain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Workshop Mission &amp; Industry Architecture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Technical WMS/POS Data: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150 inventory nodes (2 DCs + 4 Stores), 25 GS1 Modulo-10 GTIN-14 SKUs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Webhook &amp; Scan Streams: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120 POS/WMS/EDI 856 JSONL events with BOPIS &amp; damaged holds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Commercial Business Data: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200 Omnichannel orders (DIAMOND/GOLD LTV, unit price vs cost)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Supplier OTIF Contracts: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10 vendor agreements ($500K–$5.5M spend, OTIF targets &amp; chargebacks)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Tangible Impact: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Stop $18,420.50 margin bleed, rescue 35 VIP orders ($749.3K LTV) &amp; claim $98,250 OTIF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100% Local Laptop Execution + Terraform Cloud Run &amp; Gemini Enterprise Ready    |    Slide 1/15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AGENDA &amp; PROGRESSION • 24M THEORY / 216M HANDS-ON LABS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4-Hour Hands-On Roadmap: From Triage to Multi-Agent ADK &amp; A2A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Four 6-minute micro-theory briefings paired with four progressive 52–55 minute hands-on labs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7" descr="roadmap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Minute-by-Minute Workshop Schedule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Hour 1 (00:00–00:58):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[6m Theory] Internal Architecture &amp; Surfaces → [52m Lab 1] Triage &amp; Revenue/Margin Recovery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Hour 2 (00:58–01:58):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[6m Theory] Rules &amp; Progressive Skills → [54m Lab 2] Domain Standards &amp; Executive Risk Skill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Hour 3 (01:58–02:59):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[6m Theory] MCP, Hooks &amp; Cloud Governance → [55m Lab 3] Local FastMCP Server &amp; Compliance Hooks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Hour 4 (02:59–04:00):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[6m Theory] Subagents, ADK, A2A &amp; Terraform → [55m Lab 4] Multi-Agent Capstone, ADK Dev UI &amp; Cloud Deploy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Self-Healing Checkpoints: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Running ./labs/lab-0X/install.sh automatically applies prior lab solutions!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Every lab includes LAB_0X_INSTRUCTIONS_EN.pdf, README.md, PROMPTS.md, install.sh, and verify.sh.    |    Slide 2/15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THEORY MODULE 1A (3 MINUTES) • UNDER THE HOOD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How Google Antigravity Works Internally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Inside the closed-loop cognitive planner, context assembler, policy gate, and sandboxed runtime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7" descr="arch_internal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BC8CFF"/>
          </a:solidFill>
          <a:ln>
            <a:solidFill>
              <a:srgbClr val="BC8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The 5-Stage Internal Execution Loop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1. Context &amp; Progressive Loader: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Walks directory tree for GEMINI.md &amp; .agents/rules, indexes SKILL.md YAML frontmatter, resolves @mentions, and manages transcript.jsonl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2. Gemini Enterprise Planner: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Generates interleaved chain-of-thought (thinking), synthesizes plans (/plan), and dispatches parallel tool or subagent calls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3. Deterministic Security Gate: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Evaluates PreToolUse hooks (exit code 2 blocks execution), tool policies, file/network ACLs, and OS sandbox rules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4. Tool Runtime &amp; MCP Bridge: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Executes AST-aware file diffs, sandboxed pytest commands, and stdio/SSE FastMCP calls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5. Verification &amp; Reactive Loop: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Runs PostToolUse hooks, reads compiler/test outputs, and self-corrects until green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Key Insight: Antigravity is not just chat—it is a stateful, verifiable closed-loop engineering runtime.    |    Slide 3/15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5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THEORY MODULE 1B (3 MINUTES) • UNIFIED SURFACES &amp; MODALITIES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Antigravity 2.0, IDE &amp; CLI (</a:t>
            </a:r>
            <a:r>
              <a:rPr lang="en-US" sz="22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agy</a:t>
            </a: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— Core Modalities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Choosing the right modality and slash command for every engineering task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7" descr="surfaces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Features You Will Explore Today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Passive Modality (IDE Tab):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Context-aware Supercomplete, Tab-to-Jump across files, and Tab-to-Auto-Import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Instructive Modality (Cmd/Ctrl+I &amp; Code Lenses):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Highlight a function for surgical inline refactoring or click 'Write Tests'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Collaborative Modality (Chat Canvas &amp; CLI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agy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Multi-file reasoning with @file, @folder, @terminal, and screenshot drag-and-drop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High-Leverage Slash Commands: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/plan (step-by-step architecture), /grill-me (design interview), /boost, /teamwork, /learn &amp; /compact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HTML Auxiliary Pane: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Real-time inspection of Subagents, Background Tasks, Artifacts, and File Diffs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Pro Tip: Start complex tasks with /plan and @file mentions; use Cmd+I for localized formula fixes.    |    Slide 4/15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7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1 (PART 1/2) • OBJECTIVES &amp; WHAT YOU WILL BUILD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1: Promo Margin Floor &amp; True ATP Triage — Objectives &amp; Build Spec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52 Minutes • Printable PDF Guide: labs/lab-01-margin-inventory-triage/LAB_01_INSTRUCTIONS_EN.pdf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7" descr="retail_domain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D29922"/>
          </a:solidFill>
          <a:ln>
            <a:solidFill>
              <a:srgbClr val="D299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Lab 1 Objectives &amp; What You Will Build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1 (Multi-File Agentic Triage):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Master Antigravity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@mentions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/plan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and inline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Cmd/Ctrl+I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 correlate POS/WMS webhook streams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pos_wms_webhooks.jsonl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with pricing and ATP inventory code.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2 (Margin &amp; VIP Stockout Recovery):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Stop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$18,420.50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in negative margin bleed across 28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MARGIN_HOLD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orders and accurately flag 35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DIAMOND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/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GOLD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VIP orders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$749,300.00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LTV) at phantom-stock nodes.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#1 (GS1 &amp; Margin-Floor Pricing Engine):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Refactor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src/services/promo_pricing.py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 validate GS1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gtin_14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Modulo-10, use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Decimal(ROUND_HALF_UP)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compound stackable promos multiplicatively, and clamp net price to the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margin_floor_pct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#2 (Real-Time True ATP Engine):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Refactor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src/services/inventory_atp.py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calculate_true_atp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/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evaluate_location_atp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to subtract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reserved_qty + damaged_hold_qty + bopis_lock_qty + safety_stock_qty + unprocessed_pos_events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Deliverable &amp; Verification: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Pass all 6 unit/integration tests in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tests/test_lab01_triage.py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./labs/lab-01-margin-inventory-triage/verify.sh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and inspect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http://localhost:8002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Full printable guide: LAB_01_INSTRUCTIONS_EN.pdf    |    Slide 5/15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1 (PART 2/2) • STEP-BY-STEP INSTRUCTIONS &amp; PROMPTS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1 Instructions &amp; Copy-Paste Antigravity Prompts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Follow Steps 1–5 on the left and copy-paste prompts from labs/lab-01-margin-inventory-triage/PROMPTS.md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7"/>
          <p:cNvSpPr/>
          <p:nvPr/>
        </p:nvSpPr>
        <p:spPr>
          <a:xfrm>
            <a:off x="502920" y="1755720"/>
            <a:ext cx="550440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8"/>
          <p:cNvSpPr/>
          <p:nvPr/>
        </p:nvSpPr>
        <p:spPr>
          <a:xfrm>
            <a:off x="502920" y="1755720"/>
            <a:ext cx="5504400" cy="63720"/>
          </a:xfrm>
          <a:prstGeom prst="rect">
            <a:avLst/>
          </a:prstGeom>
          <a:solidFill>
            <a:srgbClr val="D29922"/>
          </a:solidFill>
          <a:ln>
            <a:solidFill>
              <a:srgbClr val="D299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9"/>
          <p:cNvSpPr/>
          <p:nvPr/>
        </p:nvSpPr>
        <p:spPr>
          <a:xfrm>
            <a:off x="704160" y="1901880"/>
            <a:ext cx="51019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Step-by-Step Lab 1 Instructions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1 (Initialize Lab 01):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./labs/lab-01-margin-inventory-triage/install.sh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 seed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data/retail_pulse.db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starter bugs.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2 (Reproduce Failing Tests):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./.venv/bin/pytest tests/test_lab01_triage.py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 observe the margin bleed and phantom ATP failures.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3 (Fix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src/services/promo_pricing.py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Validate GS1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gtin_14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Modulo-10, use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Decimal(ROUND_HALF_UP)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never stack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EXCLUSIVE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promos, apply stackable promos multiplicatively, and clamp price to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margin_floor_pct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4 (Fix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src/services/inventory_atp.py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Subtract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reserved_qty + damaged_hold_qty + bopis_lock_qty + safety_stock_qty + unprocessed_pos_events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from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on_hand_qty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clamp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true_atp = max(0, raw_atp)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5 (Verify):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./labs/lab-01-margin-inventory-triage/verify.sh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6 passed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: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$18,420.50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bleed stopped across 28 orders; 35 VIP orders flagged).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0"/>
          <p:cNvSpPr/>
          <p:nvPr/>
        </p:nvSpPr>
        <p:spPr>
          <a:xfrm>
            <a:off x="6199560" y="1755720"/>
            <a:ext cx="54860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11"/>
          <p:cNvSpPr/>
          <p:nvPr/>
        </p:nvSpPr>
        <p:spPr>
          <a:xfrm>
            <a:off x="6199560" y="1755720"/>
            <a:ext cx="5486040" cy="63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2"/>
          <p:cNvSpPr/>
          <p:nvPr/>
        </p:nvSpPr>
        <p:spPr>
          <a:xfrm>
            <a:off x="6400800" y="1901880"/>
            <a:ext cx="508356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Copy-Paste Prompts (PROMPTS.md) &amp; Verification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1 — Discovery (@Mentions):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'@src/services/promo_pricing.py @src/services/inventory_atp.py @data/logs/pos_wms_webhooks.jsonl @tests/test_lab01_triage.py Run pytest and explain why 28 orders are bleeding margin and 35 VIP orders have phantom ATP.'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2 — Planning (/plan):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'/plan Create a remediation plan for promo_pricing.py (GS1 GTIN-14, Decimal, multiplicative stackable promos, margin floor clamping) and inventory_atp.py (subtract reserved, damaged_hold, bopis_lock, safety_stock, and unprocessed_pos_events).'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3 — Inline Edit (Cmd+I):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Highlight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calculate_true_atp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inventory_atp.py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-&gt; 'Subtract reserved_qty, damaged_hold_qty, bopis_lock_qty, safety_stock_qty, and unprocessed_pos_events from on_hand_qty.'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4 — Autonomous Verify: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'Apply fixes to @src/services/promo_pricing.py and @src/services/inventory_atp.py and run ./labs/lab-01-margin-inventory-triage/verify.sh.'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3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4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Self-Healing Checkpoint: ./labs/lab-01-margin-inventory-triage/apply_solution.sh    |    Slide 6/15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THEORY MODULE 2 (6 MINUTES) • CUSTOMIZATION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How Rules &amp; Progressive Disclosure Skills Work Internally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Specializing Antigravity for your industry without overflowing the context window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7" descr="customizations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Rules vs. Skills vs. /learn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Hierarchical Rules (GEMINI.md &amp; .agents/rules/*.md):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Always-on or model-decided domain invariants loaded from workspace root down to target directories (deduplicated automatically)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Progressive Disclosure Skills (.agents/skills/&lt;name&gt;/SKILL.md):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Only lightweight YAML frontmatter (name, description) sits in system prompt; full markdown runbook &amp; scripts/ load ONLY when triggered!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Self-Improving Memory (/learn):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Ask Antigravity to codify a newly discovered debugging pattern or architectural standard into a reusable workspace customization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Precedence Hierarchy: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Workspace (.agents/) &gt; Declared JSON (skills.json) &gt; Global (~/.gemini/config/) &gt; Built-in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Rule of Thumb: Put permanent guardrails in GEMINI.md/rules; put multi-step workflows &amp; scripts in SKILL.md.    |    Slide 7/15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5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2 (PART 1/2) • OBJECTIVES &amp; WHAT YOU WILL BUILD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2: Workspace Rules &amp; Progressive Skills — Objectives &amp; Build Spec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54 Minutes • Printable PDF Guide: labs/lab-02-rules-and-skills/LAB_02_INSTRUCTIONS_EN.pdf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7" descr="customizations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Lab 2 Objectives &amp; What You Will Build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1 (Hierarchical Domain Rules):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Encode permanent GS1 GTIN-14, True ATP, multiplicative promo, and Supplier OTIF invariants into workspace rules.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2 (Progressive Disclosure Skills):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Build an on-demand executive merchandising &amp; supply-chain audit skill in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.agents/skills/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using lightweight YAML frontmatter.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#1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GEMINI.md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.agents/rules/retail-standards.md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Workspace context &amp; rule files enforcing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Decimal(ROUND_HALF_UP)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GS1 Modulo-10 check digits,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margin_floor_pct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and OTIF chargeback formulas.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#2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.agents/skills/retail-otif-margin-auditor/SKILL.md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Progressive skill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name: retail-otif-margin-auditor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orchestrating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scripts/audit_vendor_otif.py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Deliverable &amp; Verification: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Generate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data/exports/otif_chargeback_audit_report.json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$98,250.00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OTIF chargebacks across 6 suppliers) and pass all 4 Lab 02 tests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10 passed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cumulative) in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./labs/lab-02-rules-and-skills/verify.sh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Full printable guide: LAB_02_INSTRUCTIONS_EN.pdf    |    Slide 8/15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7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2 (PART 2/2) • STEP-BY-STEP INSTRUCTIONS &amp; PROMPTS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2 Instructions &amp; Copy-Paste Antigravity Prompts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Follow Steps 1–5 on the left and copy-paste prompts from labs/lab-02-rules-and-skills/PROMPTS.md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502920" y="1755720"/>
            <a:ext cx="550440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8"/>
          <p:cNvSpPr/>
          <p:nvPr/>
        </p:nvSpPr>
        <p:spPr>
          <a:xfrm>
            <a:off x="502920" y="1755720"/>
            <a:ext cx="5504400" cy="63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9"/>
          <p:cNvSpPr/>
          <p:nvPr/>
        </p:nvSpPr>
        <p:spPr>
          <a:xfrm>
            <a:off x="704160" y="1901880"/>
            <a:ext cx="51019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Step-by-Step Lab 2 Instructions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1 (Initialize Lab 02):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./labs/lab-02-rules-and-skills/install.sh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(auto-applies Lab 01 solution).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2 (Author Root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GEMINI.md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Document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sku_catalog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wms_inventory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vendor_contracts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promo_campaigns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omnichannel_orders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and mandatory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Decimal(ROUND_HALF_UP)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gtin_14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3 (Author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.agents/rules/retail-standards.md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Codify GS1 GTIN-14 Modulo-10, True ATP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on_hand - reserved - damaged_hold - bopis_lock - safety_stock - unprocessed_pos_events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), multiplicative promos, margin floor, and Vendor OTIF rules.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4 (Author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.agents/skills/retail-otif-margin-auditor/SKILL.md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Add YAML frontmatter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name: retail-otif-margin-auditor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description: ...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and instructions to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./.venv/bin/python scripts/audit_vendor_otif.py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5 (Verify):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./labs/lab-02-rules-and-skills/verify.sh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10 passed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cumulative +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data/exports/otif_chargeback_audit_report.json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generated).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10"/>
          <p:cNvSpPr/>
          <p:nvPr/>
        </p:nvSpPr>
        <p:spPr>
          <a:xfrm>
            <a:off x="6199560" y="1755720"/>
            <a:ext cx="54860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11"/>
          <p:cNvSpPr/>
          <p:nvPr/>
        </p:nvSpPr>
        <p:spPr>
          <a:xfrm>
            <a:off x="6199560" y="1755720"/>
            <a:ext cx="5486040" cy="6372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12"/>
          <p:cNvSpPr/>
          <p:nvPr/>
        </p:nvSpPr>
        <p:spPr>
          <a:xfrm>
            <a:off x="6400800" y="1901880"/>
            <a:ext cx="508356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Copy-Paste Prompts (PROMPTS.md) &amp; Verification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1 — Author Workspace Rules: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'/plan Create @GEMINI.md and @.agents/rules/retail-standards.md enforcing Decimal ROUND_HALF_UP, GS1 GTIN-14 Modulo-10 validation, True ATP deductions, multiplicative promo stacking, and OTIF chargeback rules.'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2 — Build Progressive Skill: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'Create @.agents/skills/retail-otif-margin-auditor/SKILL.md with YAML frontmatter (name: retail-otif-margin-auditor) that executes ./.venv/bin/python scripts/audit_vendor_otif.py and writes data/exports/otif_chargeback_audit_report.json.'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3 — Trigger Skill On-Demand: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'Run a full executive margin, True ATP, and supplier OTIF chargeback audit using our workspace skill.'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Verify Command: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./labs/lab-02-rules-and-skills/verify.sh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test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/learn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13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4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Self-Healing Checkpoint: ./labs/lab-02-rules-and-skills/apply_solution.sh    |    Slide 9/15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1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THEORY MODULE 3 (6 MINUTES) • MCP, HOOKS &amp; ENTERPRISE GOVERNANCE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Live MCP Bridge, Deterministic Hooks &amp; Gemini Enterprise Governance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Connecting live databases safely while proving end-to-end enterprise security in Google Cloud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Picture 7" descr="governance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D29922"/>
          </a:solidFill>
          <a:ln>
            <a:solidFill>
              <a:srgbClr val="D299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2-Layer Enterprise Security &amp; Governance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Layer 1 — Google Cloud &amp; Gemini Enterprise (Instructor Live Demo):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Cloud IAM (roles/cloudaicompanion.user), Cloud Audit Logs (cloudaicompanion.googleapis.com), VPC-SC perimeters, Zero Data Retention / No Training on customer code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Layer 2 — Antigravity Client Security: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Tool Execution Policy (strict / request-review / proceed-in-sandbox), OS Terminal Sandbox, Non-Workspace File Access (deny), Command &amp; Browser Allow/Denylists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Live Context via FastMCP (.agents/mcp_config.json):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Exposes strongly-typed Python tools querying live SQLite &amp; telemetry over stdio/SSE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Deterministic Lifecycle Hooks (.agents/hooks.json):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PreToolUse script inspects tool JSON on stdin; exit code 2 hard-blocks policy violations and writes an immutable audit log!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Instructor Demo: Show Cloud Audit Logs in GCP Console + trigger a deterministic PreToolUse Hook block locally!    |    Slide 10/15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3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3 (PART 1/2) • OBJECTIVES &amp; WHAT YOU WILL BUILD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3: Retail FastMCP Server &amp; Margin Hooks — Objectives &amp; Build Spec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55 Minutes • Printable PDF Guide: labs/lab-03-mcp-and-hooks/LAB_03_INSTRUCTIONS_EN.pdf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Picture 7" descr="governance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BC8CFF"/>
          </a:solidFill>
          <a:ln>
            <a:solidFill>
              <a:srgbClr val="BC8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Lab 3 Objectives &amp; What You Will Build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1 (Live Omnichannel Grounding via MCP):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Connect Antigravity to live SQLite WMS inventory, VIP orders, and vendor OTIF tables via a local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FastMCP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server.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2 (Deterministic Margin Compliance Guardrails):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Intercept every file-edit and shell tool call with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PreToolUse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PostToolUse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hooks that hard-block disabling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margin_floor_pct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or destructive SQL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exit code 2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#1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mcp_server/retail_mcp.py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.agents/mcp_config.json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 4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@mcp.tool()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functions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query_true_atp_inventory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audit_vendor_otif_contracts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simulate_promo_margin_guard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list_at_risk_vip_orders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#2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.agents/hooks.json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scripts/margin_guard_hook.py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Deterministic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PreToolUse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PostToolUse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guardrail blocking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margin_floor_pct = 0.0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DISABLE_MARGIN_FLOOR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or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DROP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/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DELETE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SQL and logging to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data/logs/hook_compliance_audit.jsonl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Deliverable &amp; Verification: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Pass all 3 Lab 03 MCP &amp; Hook tests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13 passed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cumulative) in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./labs/lab-03-mcp-and-hooks/verify.sh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Full printable guide: LAB_03_INSTRUCTIONS_EN.pdf    |    Slide 11/15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5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3 (PART 2/2) • STEP-BY-STEP INSTRUCTIONS &amp; PROMPTS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3 Instructions &amp; Copy-Paste Antigravity Prompts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Follow Steps 1–5 on the left and copy-paste prompts from labs/lab-03-mcp-and-hooks/PROMPTS.md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7"/>
          <p:cNvSpPr/>
          <p:nvPr/>
        </p:nvSpPr>
        <p:spPr>
          <a:xfrm>
            <a:off x="502920" y="1755720"/>
            <a:ext cx="550440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8"/>
          <p:cNvSpPr/>
          <p:nvPr/>
        </p:nvSpPr>
        <p:spPr>
          <a:xfrm>
            <a:off x="502920" y="1755720"/>
            <a:ext cx="5504400" cy="63720"/>
          </a:xfrm>
          <a:prstGeom prst="rect">
            <a:avLst/>
          </a:prstGeom>
          <a:solidFill>
            <a:srgbClr val="BC8CFF"/>
          </a:solidFill>
          <a:ln>
            <a:solidFill>
              <a:srgbClr val="BC8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9"/>
          <p:cNvSpPr/>
          <p:nvPr/>
        </p:nvSpPr>
        <p:spPr>
          <a:xfrm>
            <a:off x="704160" y="1901880"/>
            <a:ext cx="51019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Step-by-Step Lab 3 Instructions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1 (Initialize Lab 03):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./labs/lab-03-mcp-and-hooks/install.sh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(auto-applies Labs 01–02).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2 (Complete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mcp_server/retail_mcp.py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Implement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audit_vendor_otif_contracts(only_breaching=True)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simulate_promo_margin_guard(sku, qty=1, promo_codes_csv="")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and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list_at_risk_vip_orders(loyalty_tier="DIAMOND")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3 (Register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.agents/mcp_config.json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Register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retail-pulse-mcp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invoking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./.venv/bin/python mcp_server/retail_mcp.py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over stdio.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4 (Configure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.agents/hooks.json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Wire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PreToolUse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PostToolUse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to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./.venv/bin/python scripts/margin_guard_hook.py --phase pre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(and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--phase post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blocking policy violations with exit code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2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5 (Verify):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./labs/lab-03-mcp-and-hooks/verify.sh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13 passed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cumulative across Labs 01–03 + compliance audit log verified).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10"/>
          <p:cNvSpPr/>
          <p:nvPr/>
        </p:nvSpPr>
        <p:spPr>
          <a:xfrm>
            <a:off x="6199560" y="1755720"/>
            <a:ext cx="54860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ectangle 11"/>
          <p:cNvSpPr/>
          <p:nvPr/>
        </p:nvSpPr>
        <p:spPr>
          <a:xfrm>
            <a:off x="6199560" y="1755720"/>
            <a:ext cx="5486040" cy="63720"/>
          </a:xfrm>
          <a:prstGeom prst="rect">
            <a:avLst/>
          </a:prstGeom>
          <a:solidFill>
            <a:srgbClr val="D29922"/>
          </a:solidFill>
          <a:ln>
            <a:solidFill>
              <a:srgbClr val="D299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12"/>
          <p:cNvSpPr/>
          <p:nvPr/>
        </p:nvSpPr>
        <p:spPr>
          <a:xfrm>
            <a:off x="6400800" y="1901880"/>
            <a:ext cx="508356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Copy-Paste Prompts (PROMPTS.md) &amp; Verification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1 — Complete FastMCP Server: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'/plan Implement audit_vendor_otif_contracts, simulate_promo_margin_guard, and list_at_risk_vip_orders in @mcp_server/retail_mcp.py so all tool schemas match @tests/test_lab03_mcp_hooks.py.'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2 — Wire MCP &amp; Hooks Config: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'Create @.agents/mcp_config.json for retail-pulse-mcp and @.agents/hooks.json wiring PreToolUse and PostToolUse to ./scripts/margin_guard_hook.py.'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3 — Test Hook Block (Exit Code 2):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echo '{"tool_name":"edit_file","tool_input":{"content":"margin_floor_pct = 0.0"}}' | ./.venv/bin/python scripts/margin_guard_hook.py --phase pre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D2992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Verify Command: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./labs/lab-03-mcp-and-hooks/verify.sh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inspect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data/logs/hook_compliance_audit.jsonl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13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4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Self-Healing Checkpoint: ./labs/lab-03-mcp-and-hooks/apply_solution.sh    |    Slide 12/15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9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THEORY MODULE 4 (6 MINUTES) • SUBAGENTS, GOOGLE ADK, A2A &amp; TERRAFORM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Multi-Agent Systems with Google ADK, A2A Protocol &amp; Terraform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Designing multi-agent architectures locally with </a:t>
            </a:r>
            <a:r>
              <a:rPr lang="en-US" sz="13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adk web</a:t>
            </a: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 and deploying to Cloud Run &amp; Gemini Enterprise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7" descr="adk_a2a_cloud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End-to-End Multi-Agent Architecture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Antigravity Subagents (/teamwork, /boost, /grill-me):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Delegate parallel coding &amp; research tasks inside Antigravity to build your application faster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Google ADK (Agent Development Kit):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Build domain multi-agent hierarchies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root_agent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orchestrating Technical &amp; Commercial specialist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LlmAgent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 with typed Python tools)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Local Testing via ADK Dev UI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adk web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Launch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./scripts/run_adk_web.sh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(http://localhost:8080) to interactively inspect multi-agent event traces, tool calls, and session state!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A2A (Agent2Agent) Protocol: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Publish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GET /.well-known/agent.json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(Agent Card) and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POST /api/v1/a2a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(JSON-RPC 2.0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tasks/send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for cross-agent interoperability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Terraform + Gemini Enterprise: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Provision Cloud Run v2 &amp; IAM via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infra/terraform/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deploy_gcp.sh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and register your A2A agent into Gemini Enterprise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register_gemini_enterprise_agent.sh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Develop &amp; test 100% locally with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adk web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 +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pytest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, then deploy to Google Cloud &amp; Gemini Enterprise with Terraform!    |    Slide 13/15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31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4 CAPSTONE (PART 1/2) • OBJECTIVES &amp; WHAT YOU WILL BUILD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4 Capstone: Multi-Agent ADK, A2A &amp; Terraform — Objectives &amp; Build Spec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55 Minutes • Printable PDF Guide: labs/lab-04-multi-agent-capstone/LAB_04_INSTRUCTIONS_EN.pdf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Picture 7" descr="adk_a2a_cloud_en.png"/>
          <p:cNvPicPr/>
          <p:nvPr/>
        </p:nvPicPr>
        <p:blipFill>
          <a:blip r:embed="rId2"/>
          <a:stretch/>
        </p:blipFill>
        <p:spPr>
          <a:xfrm>
            <a:off x="502920" y="1755720"/>
            <a:ext cx="5623200" cy="31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Rectangle 8"/>
          <p:cNvSpPr/>
          <p:nvPr/>
        </p:nvSpPr>
        <p:spPr>
          <a:xfrm>
            <a:off x="6309360" y="1755720"/>
            <a:ext cx="53762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Rectangle 9"/>
          <p:cNvSpPr/>
          <p:nvPr/>
        </p:nvSpPr>
        <p:spPr>
          <a:xfrm>
            <a:off x="6309360" y="1755720"/>
            <a:ext cx="5376240" cy="63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10"/>
          <p:cNvSpPr/>
          <p:nvPr/>
        </p:nvSpPr>
        <p:spPr>
          <a:xfrm>
            <a:off x="6510600" y="1901880"/>
            <a:ext cx="49741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Lab 4 Objectives &amp; What You Will Build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1 (Multi-Agent System Design with Google ADK &amp; A2A):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Build a hierarchical multi-agent system with Google ADK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LlmAgent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and expose an A2A Agent Card + JSON-RPC 2.0 endpoint.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Objective 2 (Local ADK Dev UI &amp; Cloud Terraform Deployment):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Test agent handoffs locally in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adk web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http://localhost:8080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and validate Cloud Run + Gemini Enterprise provisioning with Terraform.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#1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src/services/fulfillment_router.py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Margin-preserving omnichannel split-shipment optimizer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optimize_at_risk_order_routing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claim_vendor_otif_chargebacks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 rescuing all 35 VIP orders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$749,300.00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LTV) and claiming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$98,250.00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OTIF.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#2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src/agents/adk_a2a_orchestrator.py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adk_agents/retail_pulse/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):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WMSInventoryATPAgent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+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MerchandisingMarginOTIFAgent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coordinated by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RetailPulseOrchestratorAgent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plus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GET /.well-known/agent.json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&amp;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POST /api/v1/a2a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What You Will Build #3 (Cloud Infrastructure):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Validate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infra/terraform/main.tf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Gemini Enterprise registration via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./labs/lab-04-multi-agent-capstone/deploy_gcp.sh --dry-run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11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12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Full printable guide: LAB_04_INSTRUCTIONS_EN.pdf    |    Slide 14/15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ectangle 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3" name="Picture 3" descr="tryolabs-logo-dark-bg.png"/>
          <p:cNvPicPr/>
          <p:nvPr/>
        </p:nvPicPr>
        <p:blipFill>
          <a:blip r:embed="rId1"/>
          <a:stretch/>
        </p:blipFill>
        <p:spPr>
          <a:xfrm>
            <a:off x="9829800" y="255960"/>
            <a:ext cx="187416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TextBox 4"/>
          <p:cNvSpPr/>
          <p:nvPr/>
        </p:nvSpPr>
        <p:spPr>
          <a:xfrm>
            <a:off x="502920" y="2559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HANDS-ON LAB 4 CAPSTONE (PART 2/2) • STEP-BY-STEP INSTRUCTIONS &amp; PROMPTS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5"/>
          <p:cNvSpPr/>
          <p:nvPr/>
        </p:nvSpPr>
        <p:spPr>
          <a:xfrm>
            <a:off x="502920" y="56700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Lab 4 Instructions, </a:t>
            </a:r>
            <a:r>
              <a:rPr lang="en-US" sz="22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adk web</a:t>
            </a:r>
            <a:r>
              <a:rPr lang="en-US" sz="22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Testing &amp; Terraform Cloud Deploy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6"/>
          <p:cNvSpPr/>
          <p:nvPr/>
        </p:nvSpPr>
        <p:spPr>
          <a:xfrm>
            <a:off x="502920" y="120708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Arial"/>
              </a:rPr>
              <a:t>Follow Steps 1–5 on the left and copy-paste prompts from labs/lab-04-multi-agent-capstone/PROMPTS.md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7"/>
          <p:cNvSpPr/>
          <p:nvPr/>
        </p:nvSpPr>
        <p:spPr>
          <a:xfrm>
            <a:off x="502920" y="1755720"/>
            <a:ext cx="550440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Rectangle 8"/>
          <p:cNvSpPr/>
          <p:nvPr/>
        </p:nvSpPr>
        <p:spPr>
          <a:xfrm>
            <a:off x="502920" y="1755720"/>
            <a:ext cx="5504400" cy="63720"/>
          </a:xfrm>
          <a:prstGeom prst="rect">
            <a:avLst/>
          </a:prstGeom>
          <a:solidFill>
            <a:srgbClr val="20E3B2"/>
          </a:solidFill>
          <a:ln>
            <a:solidFill>
              <a:srgbClr val="20E3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9"/>
          <p:cNvSpPr/>
          <p:nvPr/>
        </p:nvSpPr>
        <p:spPr>
          <a:xfrm>
            <a:off x="704160" y="1901880"/>
            <a:ext cx="510192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Step-by-Step Lab 4 Instructions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1 (Initialize Lab 04):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./labs/lab-04-multi-agent-capstone/install.sh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2 (Omnichannel Fulfillment Router):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Implement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optimize_at_risk_order_routing()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claim_vendor_otif_chargebacks()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in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src/services/fulfillment_router.py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(rerouting all 35 VIP orders to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REROUTED_SAVED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claiming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$98,250.00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3 (Google ADK &amp; A2A Orchestrator):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Complete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src/agents/adk_a2a_orchestrator.py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WMSInventoryATPAgent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MerchandisingMarginOTIFAgent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RetailPulseOrchestratorAgent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get_a2a_agent_card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,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handle_a2a_jsonrpc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4 (Local ADK Dev UI):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./scripts/run_adk_web.sh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test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retail_pulse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interactively at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http://localhost:8080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Step 5 (Terraform &amp; Full Verification):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./labs/lab-04-multi-agent-capstone/deploy_gcp.sh --dry-run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</a:t>
            </a: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urier New"/>
              </a:rPr>
              <a:t>./labs/lab-04-multi-agent-capstone/verify.sh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20/20 tests pass!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10"/>
          <p:cNvSpPr/>
          <p:nvPr/>
        </p:nvSpPr>
        <p:spPr>
          <a:xfrm>
            <a:off x="6199560" y="1755720"/>
            <a:ext cx="5486040" cy="416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Rectangle 11"/>
          <p:cNvSpPr/>
          <p:nvPr/>
        </p:nvSpPr>
        <p:spPr>
          <a:xfrm>
            <a:off x="6199560" y="1755720"/>
            <a:ext cx="5486040" cy="6372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12"/>
          <p:cNvSpPr/>
          <p:nvPr/>
        </p:nvSpPr>
        <p:spPr>
          <a:xfrm>
            <a:off x="6400800" y="1901880"/>
            <a:ext cx="5083560" cy="39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Copy-Paste Prompts, </a:t>
            </a:r>
            <a:r>
              <a:rPr lang="en-US" sz="1500" b="1" u="none" strike="noStrike">
                <a:solidFill>
                  <a:srgbClr val="F0F6FC"/>
                </a:solidFill>
                <a:effectLst/>
                <a:uFillTx/>
                <a:latin typeface="Courier New"/>
              </a:rPr>
              <a:t>adk web</a:t>
            </a: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 &amp; Cloud Commands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1 — Fulfillment Router: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'/plan Implement optimize_at_risk_order_routing and claim_vendor_otif_chargebacks in @src/services/fulfillment_router.py ranking candidate nodes by lowest shipping_cost_per_unit and highest true_atp.'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2 — ADK + A2A Orchestrator: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'/teamwork Implement WMSInventoryATPAgent, MerchandisingMarginOTIFAgent, RetailPulseOrchestratorAgent, get_a2a_agent_card, and handle_a2a_jsonrpc in @src/agents/adk_a2a_orchestrator.py.'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Prompt 3 — Interactive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adk web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(http://localhost:8080):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'Execute omnichannel remediation: enforce margin floor across 28 orders, reroute all 35 VIP orders, and claim OTIF vendor chargebacks.'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Arial"/>
              </a:rPr>
              <a:t>▸  </a:t>
            </a:r>
            <a:r>
              <a:rPr lang="en-US" sz="1100" b="1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Cloud Deploy &amp; Verify: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Run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./labs/lab-04-multi-agent-capstone/deploy_gcp.sh --dry-run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 and </a:t>
            </a: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Courier New"/>
              </a:rPr>
              <a:t>./labs/lab-04-multi-agent-capstone/verify.sh</a:t>
            </a:r>
            <a:r>
              <a:rPr lang="en-US" sz="1100" b="0" u="none" strike="noStrike">
                <a:solidFill>
                  <a:srgbClr val="F0F6FC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13"/>
          <p:cNvSpPr/>
          <p:nvPr/>
        </p:nvSpPr>
        <p:spPr>
          <a:xfrm>
            <a:off x="502920" y="6108120"/>
            <a:ext cx="11182680" cy="475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14"/>
          <p:cNvSpPr/>
          <p:nvPr/>
        </p:nvSpPr>
        <p:spPr>
          <a:xfrm>
            <a:off x="685800" y="617220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0E3B2"/>
                </a:solidFill>
                <a:effectLst/>
                <a:uFillTx/>
                <a:latin typeface="Arial"/>
              </a:rPr>
              <a:t>Delivered by Tryolabs • Self-Healing Checkpoint: ./labs/lab-04-multi-agent-capstone/apply_solution.sh    |    Slide 15/15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